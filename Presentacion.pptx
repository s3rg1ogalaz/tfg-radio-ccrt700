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objetivo en una frase: modernizar la experiencia de audio sin alterar la estética original del vehículo.</a:t>
            </a:r>
          </a:p>
          <a:p>
            <a:endParaRPr/>
          </a:p>
          <a:p>
            <a:r>
              <a:t>[Sources]</a:t>
            </a:r>
          </a:p>
          <a:p>
            <a:r>
              <a:t>- TFG(3).pdf, portada y resumen.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Contrastar las dos necesidades: conservar la apariencia y recuperar funciones actuales.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1 y 3.1.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Diferenciar con claridad qué está implementado y qué queda como evolución. Es una prueba de viabilidad, no una radio terminada.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2.1 y 8.5.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brevemente por qué no se puede leer cada botón como una entrada independiente.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4.2, 6.3 y 7.2.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de izquierda a derecha: entrada, control y salidas. Destacar que el módulo FM podrá añadirse como un bloque más.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5.3, 6.4 y 7.1.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MODO_RADIO valida la transición y la pantalla, pero no activa un receptor FM físico.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7.1–7.5.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los eventos automáticos TS+xx mantienen sincronizada la pantalla con el estado real del módulo.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 7.3.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Relacionar los botones físicos con las pruebas por puente entre pines y con los mensajes temporales.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6.3 y 7.2–7.4.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Utilizar esta diapositiva para demostrar que no es solo un diseño teórico: existe integración física y respuesta visible.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 8.1.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los resultados como evidencia de viabilidad. Si el tribunal pregunta, explicar el procedimiento de 50 pulsaciones por botón y las pruebas con tres dispositivos.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8.1–8.4.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conectando con el problema inicial: la modernización puede ser invisible para el usuario. Dar paso a preguntas.</a:t>
            </a:r>
          </a:p>
          <a:p>
            <a:endParaRPr/>
          </a:p>
          <a:p>
            <a:r>
              <a:t>[Sources]</a:t>
            </a:r>
          </a:p>
          <a:p>
            <a:r>
              <a:t>- TFG(3).pdf, apartados 8.5 y 9. Material e imágenes aportados por el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D627020-68E3-496B-B220-A003E1CA27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42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l="35260" r="35260"/>
          <a:stretch>
            <a:fillRect/>
          </a:stretch>
        </p:blipFill>
        <p:spPr>
          <a:xfrm>
            <a:off x="6429375" y="0"/>
            <a:ext cx="5762625" cy="6858000"/>
          </a:xfrm>
          <a:prstGeom prst="roundRect">
            <a:avLst>
              <a:gd name="adj" fmla="val 1983"/>
            </a:avLst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469156A-8914-49E8-BD75-2F10409F16F5}"/>
              </a:ext>
            </a:extLst>
          </p:cNvPr>
          <p:cNvSpPr>
            <a:spLocks noGrp="1"/>
          </p:cNvSpPr>
          <p:nvPr/>
        </p:nvSpPr>
        <p:spPr>
          <a:xfrm>
            <a:off x="5905500" y="0"/>
            <a:ext cx="1666875" cy="6858000"/>
          </a:xfrm>
          <a:prstGeom prst="rect">
            <a:avLst/>
          </a:prstGeom>
          <a:solidFill>
            <a:srgbClr val="13242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0612B4-A83A-4AEA-A092-56E65C6D87E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84D7DA"/>
                </a:solidFill>
              </a:defRPr>
            </a:pPr>
            <a:r>
              <a:rPr sz="1200" b="1">
                <a:solidFill>
                  <a:srgbClr val="84D7DA"/>
                </a:solidFill>
              </a:rPr>
              <a:t>TRABAJO FIN DE GRADO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376DFA-7765-4D8A-99C4-D06AD3FC1C2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Sistema de radio</a:t>
            </a:r>
          </a:p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para vehículos clásicos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44034A-62B8-471C-87C3-01B2F9E20499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BBD2D4"/>
                </a:solidFill>
              </a:defRPr>
            </a:pPr>
            <a:r>
              <a:rPr sz="2100" b="0">
                <a:solidFill>
                  <a:srgbClr val="BBD2D4"/>
                </a:solidFill>
              </a:rPr>
              <a:t>con pantalla externa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991CBC9-AD58-4077-AB42-B27CF12C240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123950" cy="47625"/>
          </a:xfrm>
          <a:prstGeom prst="rect">
            <a:avLst/>
          </a:prstGeom>
          <a:solidFill>
            <a:srgbClr val="84D7D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564C86-77AC-4CA8-B22C-72A5E300E313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Sergio Gallego Álvarez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C839E5-90A9-4E45-8F64-01D2284A176B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C7D2D5"/>
                </a:solidFill>
              </a:defRPr>
            </a:pPr>
            <a:r>
              <a:rPr sz="1275" b="0">
                <a:solidFill>
                  <a:srgbClr val="C7D2D5"/>
                </a:solidFill>
              </a:rPr>
              <a:t>Grado en Ingeniería Informática · Universidad de Cantabria</a:t>
            </a:r>
          </a:p>
        </p:txBody>
      </p:sp>
    </p:spTree>
    <p:extLst>
      <p:ext uri="{BB962C8B-B14F-4D97-AF65-F5344CB8AC3E}">
        <p14:creationId xmlns:p14="http://schemas.microsoft.com/office/powerpoint/2010/main" val="27945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5A8FBBB-109B-4C9D-8A9D-3190535D0D3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MOTIVACIÓN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E0065C-FE50-46C2-B046-460019FB1E8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Modernizar sin romper la estética original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44DEEC-8D2E-4F5E-9D8B-8F199CFE6C3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" b="635"/>
          <a:stretch/>
        </p:blipFill>
        <p:spPr>
          <a:xfrm>
            <a:off x="685800" y="1762125"/>
            <a:ext cx="5572125" cy="2095500"/>
          </a:xfrm>
          <a:prstGeom prst="roundRect">
            <a:avLst>
              <a:gd name="adj" fmla="val 5455"/>
            </a:avLst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rcRect l="1908" r="1908"/>
          <a:stretch>
            <a:fillRect/>
          </a:stretch>
        </p:blipFill>
        <p:spPr>
          <a:xfrm>
            <a:off x="685800" y="4048125"/>
            <a:ext cx="5572125" cy="1619250"/>
          </a:xfrm>
          <a:prstGeom prst="roundRect">
            <a:avLst>
              <a:gd name="adj" fmla="val 7059"/>
            </a:avLst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C30F2D0-0908-42A4-8C2E-4F4463214936}"/>
              </a:ext>
            </a:extLst>
          </p:cNvPr>
          <p:cNvSpPr>
            <a:spLocks noGrp="1"/>
          </p:cNvSpPr>
          <p:nvPr/>
        </p:nvSpPr>
        <p:spPr>
          <a:xfrm>
            <a:off x="6858000" y="18573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7F86"/>
                </a:solidFill>
              </a:defRPr>
            </a:pPr>
            <a:r>
              <a:rPr sz="1875" b="1">
                <a:solidFill>
                  <a:srgbClr val="087F86"/>
                </a:solidFill>
              </a:rPr>
              <a:t>El reto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9103E4-2DA1-4194-AA58-22594A192A75}"/>
              </a:ext>
            </a:extLst>
          </p:cNvPr>
          <p:cNvSpPr>
            <a:spLocks noGrp="1"/>
          </p:cNvSpPr>
          <p:nvPr/>
        </p:nvSpPr>
        <p:spPr>
          <a:xfrm>
            <a:off x="6858000" y="2333625"/>
            <a:ext cx="4095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 dirty="0">
                <a:solidFill>
                  <a:srgbClr val="111827"/>
                </a:solidFill>
              </a:rPr>
              <a:t>Las radios </a:t>
            </a:r>
            <a:r>
              <a:rPr sz="1800" b="0" dirty="0" err="1">
                <a:solidFill>
                  <a:srgbClr val="111827"/>
                </a:solidFill>
              </a:rPr>
              <a:t>modernas</a:t>
            </a:r>
            <a:r>
              <a:rPr sz="1800" b="0" dirty="0">
                <a:solidFill>
                  <a:srgbClr val="111827"/>
                </a:solidFill>
              </a:rPr>
              <a:t> </a:t>
            </a:r>
            <a:r>
              <a:rPr sz="1800" b="0" dirty="0" err="1">
                <a:solidFill>
                  <a:srgbClr val="111827"/>
                </a:solidFill>
              </a:rPr>
              <a:t>añaden</a:t>
            </a:r>
            <a:r>
              <a:rPr sz="1800" b="0" dirty="0">
                <a:solidFill>
                  <a:srgbClr val="111827"/>
                </a:solidFill>
              </a:rPr>
              <a:t> Bluetooth y </a:t>
            </a:r>
            <a:r>
              <a:rPr sz="1800" b="0" dirty="0" err="1">
                <a:solidFill>
                  <a:srgbClr val="111827"/>
                </a:solidFill>
              </a:rPr>
              <a:t>nuevas</a:t>
            </a:r>
            <a:r>
              <a:rPr sz="1800" b="0" dirty="0">
                <a:solidFill>
                  <a:srgbClr val="111827"/>
                </a:solidFill>
              </a:rPr>
              <a:t> </a:t>
            </a:r>
            <a:r>
              <a:rPr sz="1800" b="0" dirty="0" err="1">
                <a:solidFill>
                  <a:srgbClr val="111827"/>
                </a:solidFill>
              </a:rPr>
              <a:t>funciones</a:t>
            </a:r>
            <a:r>
              <a:rPr sz="1800" b="0" dirty="0">
                <a:solidFill>
                  <a:srgbClr val="111827"/>
                </a:solidFill>
              </a:rPr>
              <a:t>, </a:t>
            </a:r>
            <a:r>
              <a:rPr sz="1800" b="0" dirty="0" err="1">
                <a:solidFill>
                  <a:srgbClr val="111827"/>
                </a:solidFill>
              </a:rPr>
              <a:t>pero</a:t>
            </a:r>
            <a:r>
              <a:rPr sz="1800" b="0" dirty="0">
                <a:solidFill>
                  <a:srgbClr val="111827"/>
                </a:solidFill>
              </a:rPr>
              <a:t> </a:t>
            </a:r>
            <a:r>
              <a:rPr sz="1800" b="0" dirty="0" err="1">
                <a:solidFill>
                  <a:srgbClr val="111827"/>
                </a:solidFill>
              </a:rPr>
              <a:t>alteran</a:t>
            </a:r>
            <a:r>
              <a:rPr sz="1800" b="0" dirty="0">
                <a:solidFill>
                  <a:srgbClr val="111827"/>
                </a:solidFill>
              </a:rPr>
              <a:t> la </a:t>
            </a:r>
            <a:r>
              <a:rPr sz="1800" b="0" dirty="0" err="1">
                <a:solidFill>
                  <a:srgbClr val="111827"/>
                </a:solidFill>
              </a:rPr>
              <a:t>integración</a:t>
            </a:r>
            <a:r>
              <a:rPr sz="1800" b="0" dirty="0">
                <a:solidFill>
                  <a:srgbClr val="111827"/>
                </a:solidFill>
              </a:rPr>
              <a:t> visual del </a:t>
            </a:r>
            <a:r>
              <a:rPr lang="es-ES" sz="1800" b="0" dirty="0" err="1">
                <a:solidFill>
                  <a:srgbClr val="111827"/>
                </a:solidFill>
              </a:rPr>
              <a:t>vehiculo</a:t>
            </a:r>
            <a:r>
              <a:rPr sz="1800" b="0" dirty="0">
                <a:solidFill>
                  <a:srgbClr val="111827"/>
                </a:solidFill>
              </a:rPr>
              <a:t> </a:t>
            </a:r>
            <a:r>
              <a:rPr sz="1800" b="0" dirty="0" err="1">
                <a:solidFill>
                  <a:srgbClr val="111827"/>
                </a:solidFill>
              </a:rPr>
              <a:t>clásico</a:t>
            </a:r>
            <a:r>
              <a:rPr sz="1800" b="0" dirty="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B8F43C-9E38-4F79-A839-C1A9DD8BBFAC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4095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703613-E1A6-4833-A0DB-28186F9CE2B5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7F86"/>
                </a:solidFill>
              </a:defRPr>
            </a:pPr>
            <a:r>
              <a:rPr sz="1875" b="1">
                <a:solidFill>
                  <a:srgbClr val="087F86"/>
                </a:solidFill>
              </a:rPr>
              <a:t>La propuesta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08F417-34A4-43B1-8912-F8F09787DA29}"/>
              </a:ext>
            </a:extLst>
          </p:cNvPr>
          <p:cNvSpPr>
            <a:spLocks noGrp="1"/>
          </p:cNvSpPr>
          <p:nvPr/>
        </p:nvSpPr>
        <p:spPr>
          <a:xfrm>
            <a:off x="6858000" y="4572000"/>
            <a:ext cx="4095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Reutilizar el frontal CCRT 700 y la pantalla MID, sustituyendo la electrónica interna por una arquitectura modular.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2734CA-1CAF-46A2-8290-CD85A82A20F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A1C068-B63F-42B3-BF97-ABB6D16846A7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403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027D028E-080E-4778-843E-C86C61CFFBC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OBJETIVOS Y ALCANCE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DB4E93-4352-46EC-BEE5-6842EF56C8D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prueba de concepto valida el núcleo del sistema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9B6007-BB9B-46C3-BB9E-583E6B82DE3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F6812A-8D63-48EA-918D-E3A15810C5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A8F65"/>
                </a:solidFill>
              </a:defRPr>
            </a:pPr>
            <a:r>
              <a:rPr sz="1200" b="1">
                <a:solidFill>
                  <a:srgbClr val="2A8F65"/>
                </a:solidFill>
              </a:rPr>
              <a:t>VALIDADO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EFF4973-FC5F-4437-8051-F94558D79980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CF7F7E-2000-446B-AE59-8E90C4240B8E}"/>
              </a:ext>
            </a:extLst>
          </p:cNvPr>
          <p:cNvSpPr>
            <a:spLocks noGrp="1"/>
          </p:cNvSpPr>
          <p:nvPr/>
        </p:nvSpPr>
        <p:spPr>
          <a:xfrm>
            <a:off x="1028700" y="21621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Lectura del panel frontal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AE4E303-30D8-4727-A70A-A18E23FA7DDA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CF7FE1-5295-4A95-8448-B3F36A3C5FCA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Control Bluetooth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83694BD-08F7-4BC9-AFD9-A5EBEB0D262E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21E450F-0944-4010-94DD-F74B03C0D831}"/>
              </a:ext>
            </a:extLst>
          </p:cNvPr>
          <p:cNvSpPr>
            <a:spLocks noGrp="1"/>
          </p:cNvSpPr>
          <p:nvPr/>
        </p:nvSpPr>
        <p:spPr>
          <a:xfrm>
            <a:off x="1028700" y="343852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Navegación entre pistas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70F4840-7691-4C7A-B4A7-2C5DAF981A6F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4D2C0E-3911-45E4-B66F-A06545ECD8D1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Mensajes en pantalla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A6EA841-8B78-46E4-9379-57F9874890D9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B4D147-4A5F-41D4-A6E6-D52087D78A6D}"/>
              </a:ext>
            </a:extLst>
          </p:cNvPr>
          <p:cNvSpPr>
            <a:spLocks noGrp="1"/>
          </p:cNvSpPr>
          <p:nvPr/>
        </p:nvSpPr>
        <p:spPr>
          <a:xfrm>
            <a:off x="1028700" y="47148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Cambio lógico de modo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3EA3D3-6F78-4C18-BD67-3F547088F073}"/>
              </a:ext>
            </a:extLst>
          </p:cNvPr>
          <p:cNvSpPr>
            <a:spLocks noGrp="1"/>
          </p:cNvSpPr>
          <p:nvPr/>
        </p:nvSpPr>
        <p:spPr>
          <a:xfrm>
            <a:off x="5810250" y="1762125"/>
            <a:ext cx="19050" cy="3714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349C791-363E-4675-9A5E-C1354E2BD9FF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D98B2B"/>
                </a:solidFill>
              </a:defRPr>
            </a:pPr>
            <a:r>
              <a:rPr sz="1200" b="1">
                <a:solidFill>
                  <a:srgbClr val="D98B2B"/>
                </a:solidFill>
              </a:rPr>
              <a:t>AMPLIACIÓN PREVISTA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3CB542C-CB38-4C7A-AC31-8AEB132A4EC0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611EF9-B637-4DA4-A94A-65B66EEE59F2}"/>
              </a:ext>
            </a:extLst>
          </p:cNvPr>
          <p:cNvSpPr>
            <a:spLocks noGrp="1"/>
          </p:cNvSpPr>
          <p:nvPr/>
        </p:nvSpPr>
        <p:spPr>
          <a:xfrm>
            <a:off x="6819900" y="2162175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Recepción FM y RDS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BFAA96A-BF18-47CF-B01B-11C6EE77A8A3}"/>
              </a:ext>
            </a:extLst>
          </p:cNvPr>
          <p:cNvSpPr>
            <a:spLocks noGrp="1"/>
          </p:cNvSpPr>
          <p:nvPr/>
        </p:nvSpPr>
        <p:spPr>
          <a:xfrm>
            <a:off x="6477000" y="29813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7057662-32A4-468E-A22B-C618B25D4FB6}"/>
              </a:ext>
            </a:extLst>
          </p:cNvPr>
          <p:cNvSpPr>
            <a:spLocks noGrp="1"/>
          </p:cNvSpPr>
          <p:nvPr/>
        </p:nvSpPr>
        <p:spPr>
          <a:xfrm>
            <a:off x="6819900" y="2905125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Control de volumen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0B0AFBDB-544D-48F3-89FC-C883E750D449}"/>
              </a:ext>
            </a:extLst>
          </p:cNvPr>
          <p:cNvSpPr>
            <a:spLocks noGrp="1"/>
          </p:cNvSpPr>
          <p:nvPr/>
        </p:nvSpPr>
        <p:spPr>
          <a:xfrm>
            <a:off x="6477000" y="37242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C8EA926-B197-49E4-8F7C-C5E5321F87ED}"/>
              </a:ext>
            </a:extLst>
          </p:cNvPr>
          <p:cNvSpPr>
            <a:spLocks noGrp="1"/>
          </p:cNvSpPr>
          <p:nvPr/>
        </p:nvSpPr>
        <p:spPr>
          <a:xfrm>
            <a:off x="6819900" y="3648075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Gestión completa de llamadas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E5430E2-6CDC-4E4A-97DA-D6D84427A611}"/>
              </a:ext>
            </a:extLst>
          </p:cNvPr>
          <p:cNvSpPr>
            <a:spLocks noGrp="1"/>
          </p:cNvSpPr>
          <p:nvPr/>
        </p:nvSpPr>
        <p:spPr>
          <a:xfrm>
            <a:off x="6477000" y="44672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98B2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36DE77C-5C62-40AC-89D5-BE358C200E0B}"/>
              </a:ext>
            </a:extLst>
          </p:cNvPr>
          <p:cNvSpPr>
            <a:spLocks noGrp="1"/>
          </p:cNvSpPr>
          <p:nvPr/>
        </p:nvSpPr>
        <p:spPr>
          <a:xfrm>
            <a:off x="6819900" y="4391025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Integración definitiva en el vehículo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7E06576-AECD-43F4-B01E-32A3A0EA93CA}"/>
              </a:ext>
            </a:extLst>
          </p:cNvPr>
          <p:cNvSpPr>
            <a:spLocks noGrp="1"/>
          </p:cNvSpPr>
          <p:nvPr/>
        </p:nvSpPr>
        <p:spPr>
          <a:xfrm>
            <a:off x="6477000" y="5191125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El modo Radio actual es un estado lógico: no implica todavía recepción FM.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AED65E0-822F-4CE1-B931-CC5A228E3BB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AF678DE-BD03-48E1-A8DF-1B84474DB786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981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F7226621-A44C-4012-A963-ADC5E1FDF76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INGENIERÍA INVERSA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6D9CE6-3A52-46F4-82F0-C041C7BB910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El frontal original se comporta como una matriz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58599E-34A7-48A6-9C11-F6D954B5B6FE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rcRect t="17667" b="17667"/>
          <a:stretch>
            <a:fillRect/>
          </a:stretch>
        </p:blipFill>
        <p:spPr>
          <a:xfrm>
            <a:off x="685800" y="1714500"/>
            <a:ext cx="4238625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C94D787-70D0-420A-B61B-EA43A88BFBB4}"/>
              </a:ext>
            </a:extLst>
          </p:cNvPr>
          <p:cNvSpPr>
            <a:spLocks noGrp="1"/>
          </p:cNvSpPr>
          <p:nvPr/>
        </p:nvSpPr>
        <p:spPr>
          <a:xfrm>
            <a:off x="5429250" y="17621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87F86"/>
                </a:solidFill>
              </a:defRPr>
            </a:pPr>
            <a:r>
              <a:rPr sz="1875" b="1">
                <a:solidFill>
                  <a:srgbClr val="087F86"/>
                </a:solidFill>
              </a:rPr>
              <a:t>Proceso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4B4C70-515F-40FC-B6F3-41E989EE6AD9}"/>
              </a:ext>
            </a:extLst>
          </p:cNvPr>
          <p:cNvSpPr>
            <a:spLocks noGrp="1"/>
          </p:cNvSpPr>
          <p:nvPr/>
        </p:nvSpPr>
        <p:spPr>
          <a:xfrm>
            <a:off x="5429250" y="23336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87F86"/>
                </a:solidFill>
              </a:defRPr>
            </a:pPr>
            <a:r>
              <a:rPr sz="1350" b="1">
                <a:solidFill>
                  <a:srgbClr val="087F86"/>
                </a:solidFill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F27178-7F06-4625-9179-14CFD86002A4}"/>
              </a:ext>
            </a:extLst>
          </p:cNvPr>
          <p:cNvSpPr>
            <a:spLocks noGrp="1"/>
          </p:cNvSpPr>
          <p:nvPr/>
        </p:nvSpPr>
        <p:spPr>
          <a:xfrm>
            <a:off x="5953125" y="2447925"/>
            <a:ext cx="61912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20AF0D-5DE1-43E8-AABC-56E78A017BB9}"/>
              </a:ext>
            </a:extLst>
          </p:cNvPr>
          <p:cNvSpPr>
            <a:spLocks noGrp="1"/>
          </p:cNvSpPr>
          <p:nvPr/>
        </p:nvSpPr>
        <p:spPr>
          <a:xfrm>
            <a:off x="6762750" y="22574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Identificar pines y buses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1F3E23F-8973-4A69-979C-1593391CE9FD}"/>
              </a:ext>
            </a:extLst>
          </p:cNvPr>
          <p:cNvSpPr>
            <a:spLocks noGrp="1"/>
          </p:cNvSpPr>
          <p:nvPr/>
        </p:nvSpPr>
        <p:spPr>
          <a:xfrm>
            <a:off x="5429250" y="307657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87F86"/>
                </a:solidFill>
              </a:defRPr>
            </a:pPr>
            <a:r>
              <a:rPr sz="1350" b="1">
                <a:solidFill>
                  <a:srgbClr val="087F86"/>
                </a:solidFill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240CAA-C933-485B-83D4-CAAA0C0029B6}"/>
              </a:ext>
            </a:extLst>
          </p:cNvPr>
          <p:cNvSpPr>
            <a:spLocks noGrp="1"/>
          </p:cNvSpPr>
          <p:nvPr/>
        </p:nvSpPr>
        <p:spPr>
          <a:xfrm>
            <a:off x="5953125" y="3190875"/>
            <a:ext cx="61912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6F4A44-7A29-4509-8BD2-074597C66C34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Relacionar filas y columnas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979DFC-2A79-4ABC-8E95-F02B62DC8B0F}"/>
              </a:ext>
            </a:extLst>
          </p:cNvPr>
          <p:cNvSpPr>
            <a:spLocks noGrp="1"/>
          </p:cNvSpPr>
          <p:nvPr/>
        </p:nvSpPr>
        <p:spPr>
          <a:xfrm>
            <a:off x="5429250" y="38195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87F86"/>
                </a:solidFill>
              </a:defRPr>
            </a:pPr>
            <a:r>
              <a:rPr sz="1350" b="1">
                <a:solidFill>
                  <a:srgbClr val="087F86"/>
                </a:solidFill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FF7806-B40A-4120-BD45-97A612D502B2}"/>
              </a:ext>
            </a:extLst>
          </p:cNvPr>
          <p:cNvSpPr>
            <a:spLocks noGrp="1"/>
          </p:cNvSpPr>
          <p:nvPr/>
        </p:nvSpPr>
        <p:spPr>
          <a:xfrm>
            <a:off x="5953125" y="3933825"/>
            <a:ext cx="61912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E6B475-6B49-4492-97BE-22B91FD6701C}"/>
              </a:ext>
            </a:extLst>
          </p:cNvPr>
          <p:cNvSpPr>
            <a:spLocks noGrp="1"/>
          </p:cNvSpPr>
          <p:nvPr/>
        </p:nvSpPr>
        <p:spPr>
          <a:xfrm>
            <a:off x="6762750" y="374332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Escanear cada columna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131DF4-662B-4DE3-8F07-56B916052CFD}"/>
              </a:ext>
            </a:extLst>
          </p:cNvPr>
          <p:cNvSpPr>
            <a:spLocks noGrp="1"/>
          </p:cNvSpPr>
          <p:nvPr/>
        </p:nvSpPr>
        <p:spPr>
          <a:xfrm>
            <a:off x="5429250" y="456247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87F86"/>
                </a:solidFill>
              </a:defRPr>
            </a:pPr>
            <a:r>
              <a:rPr sz="1350" b="1">
                <a:solidFill>
                  <a:srgbClr val="087F86"/>
                </a:solidFill>
              </a:rPr>
              <a:t>04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E1D8D3A-0AD1-4663-9954-D67522D0D09B}"/>
              </a:ext>
            </a:extLst>
          </p:cNvPr>
          <p:cNvSpPr>
            <a:spLocks noGrp="1"/>
          </p:cNvSpPr>
          <p:nvPr/>
        </p:nvSpPr>
        <p:spPr>
          <a:xfrm>
            <a:off x="5953125" y="4676775"/>
            <a:ext cx="61912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20B6B9-1D9B-4401-BD04-C47D2B0DAA1F}"/>
              </a:ext>
            </a:extLst>
          </p:cNvPr>
          <p:cNvSpPr>
            <a:spLocks noGrp="1"/>
          </p:cNvSpPr>
          <p:nvPr/>
        </p:nvSpPr>
        <p:spPr>
          <a:xfrm>
            <a:off x="6762750" y="4486275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Aplicar antirrebote de 50 ms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4E2D577-E7DC-4D33-9445-302B08B58FCD}"/>
              </a:ext>
            </a:extLst>
          </p:cNvPr>
          <p:cNvSpPr>
            <a:spLocks noGrp="1"/>
          </p:cNvSpPr>
          <p:nvPr/>
        </p:nvSpPr>
        <p:spPr>
          <a:xfrm>
            <a:off x="5429250" y="5334000"/>
            <a:ext cx="5429250" cy="457200"/>
          </a:xfrm>
          <a:prstGeom prst="rect">
            <a:avLst/>
          </a:prstGeom>
          <a:solidFill>
            <a:srgbClr val="DCEFF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CE4F51-FFD6-4BC1-984A-C1D4981A4FD2}"/>
              </a:ext>
            </a:extLst>
          </p:cNvPr>
          <p:cNvSpPr>
            <a:spLocks noGrp="1"/>
          </p:cNvSpPr>
          <p:nvPr/>
        </p:nvSpPr>
        <p:spPr>
          <a:xfrm>
            <a:off x="5638800" y="5438775"/>
            <a:ext cx="500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087F86"/>
                </a:solidFill>
              </a:defRPr>
            </a:pPr>
            <a:r>
              <a:rPr sz="1500" b="1">
                <a:solidFill>
                  <a:srgbClr val="087F86"/>
                </a:solidFill>
              </a:rPr>
              <a:t>Resultado: un único evento por cada pulsación real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D280B27-0113-4E07-8AA0-0CFB3BD5003B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3380D66-CD33-4067-8EE6-89D8A8B3E3A8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445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6DB51A28-1A38-45FE-AF30-BCCECE593F9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ARQUITECTURA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05C849-618D-4E79-AF0E-21C4F9ACD22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Arduino Mega coordina tres interfaces independientes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E971EC-107A-4574-8E4A-48D157332FC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918ADA-F2A2-4830-8282-FB59E522E30A}"/>
              </a:ext>
            </a:extLst>
          </p:cNvPr>
          <p:cNvSpPr>
            <a:spLocks noGrp="1"/>
          </p:cNvSpPr>
          <p:nvPr/>
        </p:nvSpPr>
        <p:spPr>
          <a:xfrm>
            <a:off x="3000375" y="3048000"/>
            <a:ext cx="13335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9F549A4-59A8-4B12-9D13-484E73A0F4AC}"/>
              </a:ext>
            </a:extLst>
          </p:cNvPr>
          <p:cNvSpPr>
            <a:spLocks noGrp="1"/>
          </p:cNvSpPr>
          <p:nvPr/>
        </p:nvSpPr>
        <p:spPr>
          <a:xfrm>
            <a:off x="7858125" y="2476500"/>
            <a:ext cx="13335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F72E06-0791-4784-B085-7FE4098FAFDF}"/>
              </a:ext>
            </a:extLst>
          </p:cNvPr>
          <p:cNvSpPr>
            <a:spLocks noGrp="1"/>
          </p:cNvSpPr>
          <p:nvPr/>
        </p:nvSpPr>
        <p:spPr>
          <a:xfrm>
            <a:off x="7858125" y="3905250"/>
            <a:ext cx="13335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2A39DA0-BD8B-4563-855B-02F75A29DD4A}"/>
              </a:ext>
            </a:extLst>
          </p:cNvPr>
          <p:cNvSpPr>
            <a:spLocks noGrp="1"/>
          </p:cNvSpPr>
          <p:nvPr/>
        </p:nvSpPr>
        <p:spPr>
          <a:xfrm>
            <a:off x="4333875" y="2190750"/>
            <a:ext cx="3524250" cy="2428875"/>
          </a:xfrm>
          <a:prstGeom prst="roundRect">
            <a:avLst>
              <a:gd name="adj" fmla="val 4706"/>
            </a:avLst>
          </a:prstGeom>
          <a:solidFill>
            <a:srgbClr val="13242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27CB93-15A6-45A9-9035-CCC164E5092D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ARDUINO MEGA 2560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E1CBD78-8E4F-4D99-9A12-2148CA7C0A96}"/>
              </a:ext>
            </a:extLst>
          </p:cNvPr>
          <p:cNvSpPr>
            <a:spLocks noGrp="1"/>
          </p:cNvSpPr>
          <p:nvPr/>
        </p:nvSpPr>
        <p:spPr>
          <a:xfrm>
            <a:off x="4857750" y="3190875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0">
                <a:solidFill>
                  <a:srgbClr val="D8E3E5"/>
                </a:solidFill>
              </a:defRPr>
            </a:pPr>
            <a:r>
              <a:rPr sz="1575" b="0">
                <a:solidFill>
                  <a:srgbClr val="D8E3E5"/>
                </a:solidFill>
              </a:rPr>
              <a:t>Gestión de eventos</a:t>
            </a:r>
          </a:p>
          <a:p>
            <a:pPr algn="ctr">
              <a:defRPr sz="1575" b="0">
                <a:solidFill>
                  <a:srgbClr val="D8E3E5"/>
                </a:solidFill>
              </a:defRPr>
            </a:pPr>
            <a:r>
              <a:rPr sz="1575" b="0">
                <a:solidFill>
                  <a:srgbClr val="D8E3E5"/>
                </a:solidFill>
              </a:rPr>
              <a:t>Estado del sistema</a:t>
            </a:r>
          </a:p>
          <a:p>
            <a:pPr algn="ctr">
              <a:defRPr sz="1575" b="0">
                <a:solidFill>
                  <a:srgbClr val="D8E3E5"/>
                </a:solidFill>
              </a:defRPr>
            </a:pPr>
            <a:r>
              <a:rPr sz="1575" b="0">
                <a:solidFill>
                  <a:srgbClr val="D8E3E5"/>
                </a:solidFill>
              </a:rPr>
              <a:t>Coordinación de módulos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FBE7897-63B5-408B-931C-653A7B50F35F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DCEFF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A5F5C32-C107-43AB-BDEE-73FADB09BE71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Panel CCRT 700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8D3CB-81E0-4A51-9DF7-C276F64E5FE4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GPIO · matriz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4FD09EF-510F-4247-9001-4AC24B2149FA}"/>
              </a:ext>
            </a:extLst>
          </p:cNvPr>
          <p:cNvSpPr>
            <a:spLocks noGrp="1"/>
          </p:cNvSpPr>
          <p:nvPr/>
        </p:nvSpPr>
        <p:spPr>
          <a:xfrm>
            <a:off x="9191625" y="190500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12BA55-74E9-4ED0-96AC-0DDB6A1D8078}"/>
              </a:ext>
            </a:extLst>
          </p:cNvPr>
          <p:cNvSpPr>
            <a:spLocks noGrp="1"/>
          </p:cNvSpPr>
          <p:nvPr/>
        </p:nvSpPr>
        <p:spPr>
          <a:xfrm>
            <a:off x="9429750" y="21526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Módulo BT-201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2B656BB-4E59-4D92-A190-87557908C0B1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UART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7C5797A-D820-4C30-8920-EBC900D4DE04}"/>
              </a:ext>
            </a:extLst>
          </p:cNvPr>
          <p:cNvSpPr>
            <a:spLocks noGrp="1"/>
          </p:cNvSpPr>
          <p:nvPr/>
        </p:nvSpPr>
        <p:spPr>
          <a:xfrm>
            <a:off x="9191625" y="3333750"/>
            <a:ext cx="2286000" cy="114300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E4CA729-99E0-4DF4-84FF-2B299B534D31}"/>
              </a:ext>
            </a:extLst>
          </p:cNvPr>
          <p:cNvSpPr>
            <a:spLocks noGrp="1"/>
          </p:cNvSpPr>
          <p:nvPr/>
        </p:nvSpPr>
        <p:spPr>
          <a:xfrm>
            <a:off x="9429750" y="35814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Pantalla MID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FC80B42-67BC-440E-9CFA-54AD8927D940}"/>
              </a:ext>
            </a:extLst>
          </p:cNvPr>
          <p:cNvSpPr>
            <a:spLocks noGrp="1"/>
          </p:cNvSpPr>
          <p:nvPr/>
        </p:nvSpPr>
        <p:spPr>
          <a:xfrm>
            <a:off x="9429750" y="4000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TID12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722039-C269-4A6A-83B2-DE496B5196DD}"/>
              </a:ext>
            </a:extLst>
          </p:cNvPr>
          <p:cNvSpPr>
            <a:spLocks noGrp="1"/>
          </p:cNvSpPr>
          <p:nvPr/>
        </p:nvSpPr>
        <p:spPr>
          <a:xfrm>
            <a:off x="2476500" y="52387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87F86"/>
                </a:solidFill>
              </a:defRPr>
            </a:pPr>
            <a:r>
              <a:rPr sz="1800" b="1">
                <a:solidFill>
                  <a:srgbClr val="087F86"/>
                </a:solidFill>
              </a:rPr>
              <a:t>Arquitectura modular: cada bloque puede evolucionar sin rehacer el resto.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DF3565A-B347-42EE-B831-49D5945E5D1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1D3ACCC-BB7E-499B-B0E3-6CD7F8AE793E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763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AD0D00BF-BBEC-42E0-914C-B07882B4670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IMPLEMENTACIÓN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AC8CE1-C62F-4AD4-9BCA-D92D2A7FD95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El software separa entradas, Bluetooth y aplicación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807D90-E636-44E4-AA63-97098A1668D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7BF1BF9-4A15-403F-8279-3FE35BCE2B86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834F1F-B102-442B-9BFB-6EE549111A8B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GestorEntradas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D4DA1E-AF57-4F7D-8506-4E58432116A2}"/>
              </a:ext>
            </a:extLst>
          </p:cNvPr>
          <p:cNvSpPr>
            <a:spLocks noGrp="1"/>
          </p:cNvSpPr>
          <p:nvPr/>
        </p:nvSpPr>
        <p:spPr>
          <a:xfrm>
            <a:off x="971550" y="2743200"/>
            <a:ext cx="762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D41541-2B9B-4A1E-9E42-2F690364FF9F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Escaneo matricial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Antirrebote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Eventos de pulsación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4EE54ED-2132-4AE5-B2C6-FE2E26ACFD24}"/>
              </a:ext>
            </a:extLst>
          </p:cNvPr>
          <p:cNvSpPr>
            <a:spLocks noGrp="1"/>
          </p:cNvSpPr>
          <p:nvPr/>
        </p:nvSpPr>
        <p:spPr>
          <a:xfrm>
            <a:off x="4171950" y="1857375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DCEFF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627CB34-E1A0-4315-A03B-C2DEB3F3FE1A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87F86"/>
                </a:solidFill>
              </a:defRPr>
            </a:pPr>
            <a:r>
              <a:rPr sz="1950" b="1">
                <a:solidFill>
                  <a:srgbClr val="087F86"/>
                </a:solidFill>
              </a:rPr>
              <a:t>BT201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C291F0-7153-4620-9CCE-124E76381970}"/>
              </a:ext>
            </a:extLst>
          </p:cNvPr>
          <p:cNvSpPr>
            <a:spLocks noGrp="1"/>
          </p:cNvSpPr>
          <p:nvPr/>
        </p:nvSpPr>
        <p:spPr>
          <a:xfrm>
            <a:off x="4457700" y="2743200"/>
            <a:ext cx="762000" cy="28575"/>
          </a:xfrm>
          <a:prstGeom prst="rect">
            <a:avLst/>
          </a:prstGeom>
          <a:solidFill>
            <a:srgbClr val="087F86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9EEF14-2524-492B-BEFF-CADF3FDCB288}"/>
              </a:ext>
            </a:extLst>
          </p:cNvPr>
          <p:cNvSpPr>
            <a:spLocks noGrp="1"/>
          </p:cNvSpPr>
          <p:nvPr/>
        </p:nvSpPr>
        <p:spPr>
          <a:xfrm>
            <a:off x="4457700" y="30480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Comandos AT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Procesado TS+xx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Estado Bluetooth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A3FDB0F-0A1B-4A5B-A09B-6922A541E20B}"/>
              </a:ext>
            </a:extLst>
          </p:cNvPr>
          <p:cNvSpPr>
            <a:spLocks noGrp="1"/>
          </p:cNvSpPr>
          <p:nvPr/>
        </p:nvSpPr>
        <p:spPr>
          <a:xfrm>
            <a:off x="7658100" y="1857375"/>
            <a:ext cx="3143250" cy="2714625"/>
          </a:xfrm>
          <a:prstGeom prst="roundRect">
            <a:avLst>
              <a:gd name="adj" fmla="val 4211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802866-E433-4A46-9DA1-7F45F80BEA4E}"/>
              </a:ext>
            </a:extLst>
          </p:cNvPr>
          <p:cNvSpPr>
            <a:spLocks noGrp="1"/>
          </p:cNvSpPr>
          <p:nvPr/>
        </p:nvSpPr>
        <p:spPr>
          <a:xfrm>
            <a:off x="7943850" y="21907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Radio_TFG.ino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A2798B-53B0-4861-8FBB-532ABF0E8DA2}"/>
              </a:ext>
            </a:extLst>
          </p:cNvPr>
          <p:cNvSpPr>
            <a:spLocks noGrp="1"/>
          </p:cNvSpPr>
          <p:nvPr/>
        </p:nvSpPr>
        <p:spPr>
          <a:xfrm>
            <a:off x="7943850" y="2743200"/>
            <a:ext cx="762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D874CF1-07E7-4529-86C1-F52617679790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Modo de audio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Mensajes temporales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Actualización de pantalla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BCC0C45-48BF-4772-8710-3CA535BD9ED5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115550" cy="552450"/>
          </a:xfrm>
          <a:prstGeom prst="rect">
            <a:avLst/>
          </a:prstGeom>
          <a:solidFill>
            <a:srgbClr val="132429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E18C36-A481-4F5B-818E-BF239B2ADCA6}"/>
              </a:ext>
            </a:extLst>
          </p:cNvPr>
          <p:cNvSpPr>
            <a:spLocks noGrp="1"/>
          </p:cNvSpPr>
          <p:nvPr/>
        </p:nvSpPr>
        <p:spPr>
          <a:xfrm>
            <a:off x="904875" y="5181600"/>
            <a:ext cx="9677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MODO_BLUETOOTH  ⇄  MODO_RADIO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962AD82-891A-4F66-A668-1AB1C16F51A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061A84E-ED1E-4EDA-AB6A-ADF3964C603F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652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9CAA465-8E10-473A-8F46-22548BC1AA8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BLUETOOTH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021D5A-7732-48C5-963E-5EA4636AE25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El BT-201 se controla por comandos y eventos UART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24D8B3-AF49-4252-97E8-B4D95417F3F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C638BA-98FF-4403-93A6-D7F12A6F2E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COMANDOS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285ACF-7AEA-433D-95C8-B3875346C5F5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AT+CB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7F3DF9-56C4-44DC-801E-2A6780B04252}"/>
              </a:ext>
            </a:extLst>
          </p:cNvPr>
          <p:cNvSpPr>
            <a:spLocks noGrp="1"/>
          </p:cNvSpPr>
          <p:nvPr/>
        </p:nvSpPr>
        <p:spPr>
          <a:xfrm>
            <a:off x="2381250" y="22764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Play / pausa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8E546DE-9FF3-49D9-ABA8-69F4CDDC4D51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015233-D384-4616-AF28-AFB50C382A17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AT+CC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2A0641-06CF-4FEA-B406-C8DCBC242CF9}"/>
              </a:ext>
            </a:extLst>
          </p:cNvPr>
          <p:cNvSpPr>
            <a:spLocks noGrp="1"/>
          </p:cNvSpPr>
          <p:nvPr/>
        </p:nvSpPr>
        <p:spPr>
          <a:xfrm>
            <a:off x="2381250" y="30194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Pista siguiente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D5E125-E912-4A93-803B-CA792064306E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51331E-2CD4-46C8-815A-403D4E328329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AT+CD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7561C3-FDDB-4D4E-940F-8CCB31956D16}"/>
              </a:ext>
            </a:extLst>
          </p:cNvPr>
          <p:cNvSpPr>
            <a:spLocks noGrp="1"/>
          </p:cNvSpPr>
          <p:nvPr/>
        </p:nvSpPr>
        <p:spPr>
          <a:xfrm>
            <a:off x="2381250" y="3762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Pista anterior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D75E8BA-B111-4776-871B-9FC4CC42A447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572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EC8CB8-45EA-4A58-9650-96EF4A7E681E}"/>
              </a:ext>
            </a:extLst>
          </p:cNvPr>
          <p:cNvSpPr>
            <a:spLocks noGrp="1"/>
          </p:cNvSpPr>
          <p:nvPr/>
        </p:nvSpPr>
        <p:spPr>
          <a:xfrm>
            <a:off x="5810250" y="1714500"/>
            <a:ext cx="19050" cy="3714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994B2F-D4B8-4715-B2AE-2BC6FDE4C889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ESTADOS RECIBIDOS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92AF48B-C1EA-4B4E-8EA3-110D144044F7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1190625" cy="419100"/>
          </a:xfrm>
          <a:prstGeom prst="roundRect">
            <a:avLst>
              <a:gd name="adj" fmla="val 2727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6171092-0B6C-4954-8275-5D975D2F287B}"/>
              </a:ext>
            </a:extLst>
          </p:cNvPr>
          <p:cNvSpPr>
            <a:spLocks noGrp="1"/>
          </p:cNvSpPr>
          <p:nvPr/>
        </p:nvSpPr>
        <p:spPr>
          <a:xfrm>
            <a:off x="6610349" y="2295525"/>
            <a:ext cx="923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 dirty="0">
                <a:solidFill>
                  <a:srgbClr val="111827"/>
                </a:solidFill>
              </a:rPr>
              <a:t>TS+00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CDCFBDC-B65A-426D-891E-4ABE977E94CC}"/>
              </a:ext>
            </a:extLst>
          </p:cNvPr>
          <p:cNvSpPr>
            <a:spLocks noGrp="1"/>
          </p:cNvSpPr>
          <p:nvPr/>
        </p:nvSpPr>
        <p:spPr>
          <a:xfrm>
            <a:off x="8048625" y="2305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PAIR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86236DB-AFE3-471A-9EC3-9882B686EC6B}"/>
              </a:ext>
            </a:extLst>
          </p:cNvPr>
          <p:cNvSpPr>
            <a:spLocks noGrp="1"/>
          </p:cNvSpPr>
          <p:nvPr/>
        </p:nvSpPr>
        <p:spPr>
          <a:xfrm>
            <a:off x="6477000" y="2886075"/>
            <a:ext cx="1190625" cy="419100"/>
          </a:xfrm>
          <a:prstGeom prst="roundRect">
            <a:avLst>
              <a:gd name="adj" fmla="val 2727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F6D6E4D-C566-4C84-B6DA-F36960C4A205}"/>
              </a:ext>
            </a:extLst>
          </p:cNvPr>
          <p:cNvSpPr>
            <a:spLocks noGrp="1"/>
          </p:cNvSpPr>
          <p:nvPr/>
        </p:nvSpPr>
        <p:spPr>
          <a:xfrm>
            <a:off x="6610350" y="2971800"/>
            <a:ext cx="923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 dirty="0">
                <a:solidFill>
                  <a:srgbClr val="111827"/>
                </a:solidFill>
              </a:rPr>
              <a:t>TS+01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DE158FF-78E9-43C7-B154-6A38392B6DE9}"/>
              </a:ext>
            </a:extLst>
          </p:cNvPr>
          <p:cNvSpPr>
            <a:spLocks noGrp="1"/>
          </p:cNvSpPr>
          <p:nvPr/>
        </p:nvSpPr>
        <p:spPr>
          <a:xfrm>
            <a:off x="8048625" y="2952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PAUSE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4A74475-A2A5-440E-B2CC-2B7D68015EC7}"/>
              </a:ext>
            </a:extLst>
          </p:cNvPr>
          <p:cNvSpPr>
            <a:spLocks noGrp="1"/>
          </p:cNvSpPr>
          <p:nvPr/>
        </p:nvSpPr>
        <p:spPr>
          <a:xfrm>
            <a:off x="8048625" y="3600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PLAY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DE84DFEC-8DFD-41FF-831D-7D64402A7B45}"/>
              </a:ext>
            </a:extLst>
          </p:cNvPr>
          <p:cNvSpPr>
            <a:spLocks noGrp="1"/>
          </p:cNvSpPr>
          <p:nvPr/>
        </p:nvSpPr>
        <p:spPr>
          <a:xfrm>
            <a:off x="6477000" y="4181475"/>
            <a:ext cx="1190625" cy="419100"/>
          </a:xfrm>
          <a:prstGeom prst="roundRect">
            <a:avLst>
              <a:gd name="adj" fmla="val 2727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7C5F489-FA73-404C-9ADE-7DFE3C9DC23E}"/>
              </a:ext>
            </a:extLst>
          </p:cNvPr>
          <p:cNvSpPr>
            <a:spLocks noGrp="1"/>
          </p:cNvSpPr>
          <p:nvPr/>
        </p:nvSpPr>
        <p:spPr>
          <a:xfrm>
            <a:off x="6610350" y="4267200"/>
            <a:ext cx="923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TS+03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7B102E7-519B-428C-89E8-1EDC32951CF2}"/>
              </a:ext>
            </a:extLst>
          </p:cNvPr>
          <p:cNvSpPr>
            <a:spLocks noGrp="1"/>
          </p:cNvSpPr>
          <p:nvPr/>
        </p:nvSpPr>
        <p:spPr>
          <a:xfrm>
            <a:off x="8048625" y="4248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CALL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80D2B97-1BDF-460B-9162-AFD7EF7AEA21}"/>
              </a:ext>
            </a:extLst>
          </p:cNvPr>
          <p:cNvSpPr>
            <a:spLocks noGrp="1"/>
          </p:cNvSpPr>
          <p:nvPr/>
        </p:nvSpPr>
        <p:spPr>
          <a:xfrm>
            <a:off x="6477000" y="5048250"/>
            <a:ext cx="4476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El programa conserva el último estado recibido; no consulta AT+TS periódicamente.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2FE1EEB-8845-47FA-8B13-C6613BBDDD57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 dirty="0">
                <a:solidFill>
                  <a:srgbClr val="5B6472"/>
                </a:solidFill>
              </a:rPr>
              <a:t>Sistema de radio para </a:t>
            </a:r>
            <a:r>
              <a:rPr sz="900" b="0" dirty="0" err="1">
                <a:solidFill>
                  <a:srgbClr val="5B6472"/>
                </a:solidFill>
              </a:rPr>
              <a:t>vehículos</a:t>
            </a:r>
            <a:r>
              <a:rPr sz="900" b="0" dirty="0">
                <a:solidFill>
                  <a:srgbClr val="5B6472"/>
                </a:solidFill>
              </a:rPr>
              <a:t> </a:t>
            </a:r>
            <a:r>
              <a:rPr sz="900" b="0" dirty="0" err="1">
                <a:solidFill>
                  <a:srgbClr val="5B6472"/>
                </a:solidFill>
              </a:rPr>
              <a:t>clásicos</a:t>
            </a:r>
            <a:endParaRPr sz="900" b="0" dirty="0">
              <a:solidFill>
                <a:srgbClr val="5B6472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5D9B07C-07A8-4CD7-8DE6-261A85628824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25C8993-324E-2754-0409-1EF035800FCF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1190625" cy="419100"/>
          </a:xfrm>
          <a:prstGeom prst="roundRect">
            <a:avLst>
              <a:gd name="adj" fmla="val 2727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5E248E7-2AD8-637B-7F1C-9597AE218328}"/>
              </a:ext>
            </a:extLst>
          </p:cNvPr>
          <p:cNvSpPr>
            <a:spLocks noGrp="1"/>
          </p:cNvSpPr>
          <p:nvPr/>
        </p:nvSpPr>
        <p:spPr>
          <a:xfrm>
            <a:off x="6610350" y="3615309"/>
            <a:ext cx="9239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 dirty="0">
                <a:solidFill>
                  <a:srgbClr val="111827"/>
                </a:solidFill>
              </a:rPr>
              <a:t>TS+</a:t>
            </a:r>
            <a:r>
              <a:rPr lang="es-ES" sz="1425" b="1" dirty="0">
                <a:solidFill>
                  <a:srgbClr val="111827"/>
                </a:solidFill>
              </a:rPr>
              <a:t>02</a:t>
            </a:r>
            <a:endParaRPr sz="1425" b="1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15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168DE9A6-10AE-49A0-8372-D2C30FA7472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INTERACCIÓN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77BE81E-432A-49E3-AE15-5DE04B8CC8A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Cada botón conserva una función reconocible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36B01C-C19D-4067-90C9-456AF8ABBCE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2" b="26312"/>
          <a:stretch/>
        </p:blipFill>
        <p:spPr>
          <a:xfrm>
            <a:off x="685800" y="1762125"/>
            <a:ext cx="10820400" cy="1952625"/>
          </a:xfrm>
          <a:prstGeom prst="roundRect">
            <a:avLst>
              <a:gd name="adj" fmla="val 5854"/>
            </a:avLst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A2B6685-28D8-4CB6-B004-171E1721732B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CINTA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AE063C-853A-46BC-ADED-CA64A3E7ECF9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Play / pausa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2CCC42-8881-44ED-AE41-50BE7768DD97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Pines 46–49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CDD0A9-506B-447D-B466-ADA3C8B82E4A}"/>
              </a:ext>
            </a:extLst>
          </p:cNvPr>
          <p:cNvSpPr>
            <a:spLocks noGrp="1"/>
          </p:cNvSpPr>
          <p:nvPr/>
        </p:nvSpPr>
        <p:spPr>
          <a:xfrm>
            <a:off x="3390900" y="4143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TUNER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A51A07-5803-4D78-BA5E-BF4ECCB12DF9}"/>
              </a:ext>
            </a:extLst>
          </p:cNvPr>
          <p:cNvSpPr>
            <a:spLocks noGrp="1"/>
          </p:cNvSpPr>
          <p:nvPr/>
        </p:nvSpPr>
        <p:spPr>
          <a:xfrm>
            <a:off x="3390900" y="45243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Siguiente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991A74-E5D6-4FEA-98D4-6259715FF321}"/>
              </a:ext>
            </a:extLst>
          </p:cNvPr>
          <p:cNvSpPr>
            <a:spLocks noGrp="1"/>
          </p:cNvSpPr>
          <p:nvPr/>
        </p:nvSpPr>
        <p:spPr>
          <a:xfrm>
            <a:off x="3390900" y="50006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Pines 50–53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03FB80-CD22-4CC7-A4E5-6212D93547FA}"/>
              </a:ext>
            </a:extLst>
          </p:cNvPr>
          <p:cNvSpPr>
            <a:spLocks noGrp="1"/>
          </p:cNvSpPr>
          <p:nvPr/>
        </p:nvSpPr>
        <p:spPr>
          <a:xfrm>
            <a:off x="6096000" y="4143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ECUALIZADOR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7A0462-2002-452C-967C-0AE8190B5FA3}"/>
              </a:ext>
            </a:extLst>
          </p:cNvPr>
          <p:cNvSpPr>
            <a:spLocks noGrp="1"/>
          </p:cNvSpPr>
          <p:nvPr/>
        </p:nvSpPr>
        <p:spPr>
          <a:xfrm>
            <a:off x="6096000" y="45243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Anterior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FB765E0-03B4-4B52-A5D5-FFB06CD06E9F}"/>
              </a:ext>
            </a:extLst>
          </p:cNvPr>
          <p:cNvSpPr>
            <a:spLocks noGrp="1"/>
          </p:cNvSpPr>
          <p:nvPr/>
        </p:nvSpPr>
        <p:spPr>
          <a:xfrm>
            <a:off x="6096000" y="50006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Pines 48–53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01F22D-CBC4-491C-88F7-29A674DC5909}"/>
              </a:ext>
            </a:extLst>
          </p:cNvPr>
          <p:cNvSpPr>
            <a:spLocks noGrp="1"/>
          </p:cNvSpPr>
          <p:nvPr/>
        </p:nvSpPr>
        <p:spPr>
          <a:xfrm>
            <a:off x="8801100" y="4143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087F86"/>
                </a:solidFill>
              </a:defRPr>
            </a:pPr>
            <a:r>
              <a:rPr sz="1125" b="1">
                <a:solidFill>
                  <a:srgbClr val="087F86"/>
                </a:solidFill>
              </a:rPr>
              <a:t>CD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A67E59-6AB4-4671-9D82-F6D092023F57}"/>
              </a:ext>
            </a:extLst>
          </p:cNvPr>
          <p:cNvSpPr>
            <a:spLocks noGrp="1"/>
          </p:cNvSpPr>
          <p:nvPr/>
        </p:nvSpPr>
        <p:spPr>
          <a:xfrm>
            <a:off x="8801100" y="45243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BT / Radio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6649FE3-2EEA-41AA-BD85-CA1A6D98949B}"/>
              </a:ext>
            </a:extLst>
          </p:cNvPr>
          <p:cNvSpPr>
            <a:spLocks noGrp="1"/>
          </p:cNvSpPr>
          <p:nvPr/>
        </p:nvSpPr>
        <p:spPr>
          <a:xfrm>
            <a:off x="8801100" y="50006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Pines 52–51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5BE43C8-9087-460E-87E1-EABB7E95A726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1DFC602-4E1A-4928-97B3-F1B2876CD990}"/>
              </a:ext>
            </a:extLst>
          </p:cNvPr>
          <p:cNvSpPr>
            <a:spLocks noGrp="1"/>
          </p:cNvSpPr>
          <p:nvPr/>
        </p:nvSpPr>
        <p:spPr>
          <a:xfrm>
            <a:off x="904875" y="5772150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La pantalla confirma NEXT, PREV, BT o RADIO durante 1,5 segundos sin bloquear el bucle principal.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D182CF7-F4C1-42D5-AE73-B181233476D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870FD27-D5A9-4A32-BB2C-E9A4665159FE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75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66417C1-8B9A-4408-88B8-D55AE04684B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PROTOTIPO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E3C3C2-6ACD-4909-8746-6BE32655282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El prototipo integra frontal, Bluetooth y pantalla real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671481-C6A7-4E48-9CCC-26DDA1D5F98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 l="2468" r="2468"/>
          <a:stretch>
            <a:fillRect/>
          </a:stretch>
        </p:blipFill>
        <p:spPr>
          <a:xfrm>
            <a:off x="685800" y="1714500"/>
            <a:ext cx="6858000" cy="3429000"/>
          </a:xfrm>
          <a:prstGeom prst="roundRect">
            <a:avLst>
              <a:gd name="adj" fmla="val 3333"/>
            </a:avLst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rcRect t="5283" b="5283"/>
          <a:stretch>
            <a:fillRect/>
          </a:stretch>
        </p:blipFill>
        <p:spPr>
          <a:xfrm>
            <a:off x="7905750" y="1714500"/>
            <a:ext cx="3600450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E560B9A-D25A-4841-BD31-42627BE1E1A4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Pruebas sobre hardware real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65EDAF-CA02-4C28-ABE9-EBF12A63441C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Arduino Mega · BT-201 · panel CCRT 700 · pantalla MID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E2A085E-45DC-482B-AFAA-60DA23EC8EB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875BBD3-39AA-46EB-A418-9D5AF3AA8ADE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905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D98E0337-E532-42F4-BD85-66848B4DC63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087F86"/>
                </a:solidFill>
              </a:defRPr>
            </a:pPr>
            <a:r>
              <a:rPr sz="1050" b="1">
                <a:solidFill>
                  <a:srgbClr val="087F86"/>
                </a:solidFill>
              </a:rPr>
              <a:t>RESULTADOS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946A29F-B34E-4CAD-926A-ADD76E6B0F2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Las pruebas demuestran la viabilidad técnica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6BE7C3-43E0-49D7-BF65-5345D2668C2C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7B80E73-F7F9-4629-A5EC-644A086408AB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43250" cy="1952625"/>
          </a:xfrm>
          <a:prstGeom prst="roundRect">
            <a:avLst>
              <a:gd name="adj" fmla="val 5854"/>
            </a:avLst>
          </a:prstGeom>
          <a:solidFill>
            <a:srgbClr val="DCEFF0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E8913D-D9F1-4E2B-BEC7-6396BB147941}"/>
              </a:ext>
            </a:extLst>
          </p:cNvPr>
          <p:cNvSpPr>
            <a:spLocks noGrp="1"/>
          </p:cNvSpPr>
          <p:nvPr/>
        </p:nvSpPr>
        <p:spPr>
          <a:xfrm>
            <a:off x="923925" y="2238375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087F86"/>
                </a:solidFill>
              </a:defRPr>
            </a:pPr>
            <a:r>
              <a:rPr sz="3600" b="1">
                <a:solidFill>
                  <a:srgbClr val="087F86"/>
                </a:solidFill>
              </a:rPr>
              <a:t>100 %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79FFFF5-A8D7-40E3-A2CE-E956972D158F}"/>
              </a:ext>
            </a:extLst>
          </p:cNvPr>
          <p:cNvSpPr>
            <a:spLocks noGrp="1"/>
          </p:cNvSpPr>
          <p:nvPr/>
        </p:nvSpPr>
        <p:spPr>
          <a:xfrm>
            <a:off x="1019175" y="30480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detección de pulsaciones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4C173D-3D97-47AF-9ED3-34E7C5AB92EF}"/>
              </a:ext>
            </a:extLst>
          </p:cNvPr>
          <p:cNvSpPr>
            <a:spLocks noGrp="1"/>
          </p:cNvSpPr>
          <p:nvPr/>
        </p:nvSpPr>
        <p:spPr>
          <a:xfrm>
            <a:off x="4171950" y="1857375"/>
            <a:ext cx="3143250" cy="1952625"/>
          </a:xfrm>
          <a:prstGeom prst="roundRect">
            <a:avLst>
              <a:gd name="adj" fmla="val 5854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58A4EAD-A463-46C5-8CED-2B6FA60A07FB}"/>
              </a:ext>
            </a:extLst>
          </p:cNvPr>
          <p:cNvSpPr>
            <a:spLocks noGrp="1"/>
          </p:cNvSpPr>
          <p:nvPr/>
        </p:nvSpPr>
        <p:spPr>
          <a:xfrm>
            <a:off x="4410075" y="2238375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rPr sz="3600" b="1" dirty="0">
                <a:solidFill>
                  <a:srgbClr val="111827"/>
                </a:solidFill>
              </a:rPr>
              <a:t>&lt; </a:t>
            </a:r>
            <a:r>
              <a:rPr lang="es-ES" sz="3600" b="1" dirty="0">
                <a:solidFill>
                  <a:srgbClr val="111827"/>
                </a:solidFill>
              </a:rPr>
              <a:t>8</a:t>
            </a:r>
            <a:r>
              <a:rPr sz="3600" b="1" dirty="0">
                <a:solidFill>
                  <a:srgbClr val="111827"/>
                </a:solidFill>
              </a:rPr>
              <a:t> 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B05D3C-5154-4891-B77A-63107D40DB2A}"/>
              </a:ext>
            </a:extLst>
          </p:cNvPr>
          <p:cNvSpPr>
            <a:spLocks noGrp="1"/>
          </p:cNvSpPr>
          <p:nvPr/>
        </p:nvSpPr>
        <p:spPr>
          <a:xfrm>
            <a:off x="4505325" y="30480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reconexión Bluetooth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1D06691-1D23-4ED6-A4F0-8CEE0D454119}"/>
              </a:ext>
            </a:extLst>
          </p:cNvPr>
          <p:cNvSpPr>
            <a:spLocks noGrp="1"/>
          </p:cNvSpPr>
          <p:nvPr/>
        </p:nvSpPr>
        <p:spPr>
          <a:xfrm>
            <a:off x="7658100" y="1857375"/>
            <a:ext cx="3143250" cy="1952625"/>
          </a:xfrm>
          <a:prstGeom prst="roundRect">
            <a:avLst>
              <a:gd name="adj" fmla="val 5854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B4EA0E-9877-45AF-97C2-1D8518366BB3}"/>
              </a:ext>
            </a:extLst>
          </p:cNvPr>
          <p:cNvSpPr>
            <a:spLocks noGrp="1"/>
          </p:cNvSpPr>
          <p:nvPr/>
        </p:nvSpPr>
        <p:spPr>
          <a:xfrm>
            <a:off x="7896225" y="2238375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2 h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21BF0E-CF3A-45B5-A812-DE5ED3E71040}"/>
              </a:ext>
            </a:extLst>
          </p:cNvPr>
          <p:cNvSpPr>
            <a:spLocks noGrp="1"/>
          </p:cNvSpPr>
          <p:nvPr/>
        </p:nvSpPr>
        <p:spPr>
          <a:xfrm>
            <a:off x="7991475" y="30480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funcionamiento continuo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F113B5-19C6-4A4C-9D0E-2EF082608491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Validaciones funcionales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6889FF4-9DE7-4EA2-8B24-E16C9142E0D1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AC02C1-CCF8-48D8-917C-694C468A421E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Play / pausa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9042C1F-7C13-4FC0-B9E5-2997498FFE3D}"/>
              </a:ext>
            </a:extLst>
          </p:cNvPr>
          <p:cNvSpPr>
            <a:spLocks noGrp="1"/>
          </p:cNvSpPr>
          <p:nvPr/>
        </p:nvSpPr>
        <p:spPr>
          <a:xfrm>
            <a:off x="5781675" y="48577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044B89-D481-4159-A286-004190C6D6D2}"/>
              </a:ext>
            </a:extLst>
          </p:cNvPr>
          <p:cNvSpPr>
            <a:spLocks noGrp="1"/>
          </p:cNvSpPr>
          <p:nvPr/>
        </p:nvSpPr>
        <p:spPr>
          <a:xfrm>
            <a:off x="6124575" y="47815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Siguiente / anterior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5FCE889-175E-4DA1-89C8-CAD04D4B132A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869F5C-3466-461E-B6BA-7D793CA5EEC3}"/>
              </a:ext>
            </a:extLst>
          </p:cNvPr>
          <p:cNvSpPr>
            <a:spLocks noGrp="1"/>
          </p:cNvSpPr>
          <p:nvPr/>
        </p:nvSpPr>
        <p:spPr>
          <a:xfrm>
            <a:off x="1028700" y="53530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Conexión y desconexión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2E8B8E8-53B1-4CB8-82C0-4D2BD0C2D5B4}"/>
              </a:ext>
            </a:extLst>
          </p:cNvPr>
          <p:cNvSpPr>
            <a:spLocks noGrp="1"/>
          </p:cNvSpPr>
          <p:nvPr/>
        </p:nvSpPr>
        <p:spPr>
          <a:xfrm>
            <a:off x="5781675" y="54292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2A8F65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C60BFC-9310-4F73-A244-DF70014122FE}"/>
              </a:ext>
            </a:extLst>
          </p:cNvPr>
          <p:cNvSpPr>
            <a:spLocks noGrp="1"/>
          </p:cNvSpPr>
          <p:nvPr/>
        </p:nvSpPr>
        <p:spPr>
          <a:xfrm>
            <a:off x="6124575" y="53530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Visualización de estados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450B60B-7CD3-478F-A719-EA0E5D2516D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Sistema de radio para vehículos clásicos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1C3A945-06EA-4CFE-B977-8B816FED3B42}"/>
              </a:ext>
            </a:extLst>
          </p:cNvPr>
          <p:cNvSpPr>
            <a:spLocks noGrp="1"/>
          </p:cNvSpPr>
          <p:nvPr/>
        </p:nvSpPr>
        <p:spPr>
          <a:xfrm>
            <a:off x="11001375" y="6486525"/>
            <a:ext cx="504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1807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4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FC0C98B-8220-4DB3-9F9D-8C15EA52DD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84D7DA"/>
                </a:solidFill>
              </a:defRPr>
            </a:pPr>
            <a:r>
              <a:rPr sz="1050" b="1">
                <a:solidFill>
                  <a:srgbClr val="84D7DA"/>
                </a:solidFill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BCC704-434D-4D9C-B4FD-FB34A1D9C41D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 arquitectura propuesta es viable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6309294-6402-44F4-819B-F8105B71E23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76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D8E3E5"/>
                </a:solidFill>
              </a:defRPr>
            </a:pPr>
            <a:r>
              <a:rPr sz="1875" b="0">
                <a:solidFill>
                  <a:srgbClr val="D8E3E5"/>
                </a:solidFill>
              </a:rPr>
              <a:t>El proyecto demuestra que es posible conservar la interfaz original y controlar funciones modernas mediante una electrónica modular.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FCE913-6017-400F-B39F-B51F9DCC75B4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820400" cy="9525"/>
          </a:xfrm>
          <a:prstGeom prst="rect">
            <a:avLst/>
          </a:prstGeom>
          <a:solidFill>
            <a:srgbClr val="53666B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909106-E18D-49B6-8BA9-C43AD2A9A38D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84D7DA"/>
                </a:solidFill>
              </a:defRPr>
            </a:pPr>
            <a:r>
              <a:rPr sz="1875" b="1">
                <a:solidFill>
                  <a:srgbClr val="84D7DA"/>
                </a:solidFill>
              </a:rPr>
              <a:t>Siguiente evolución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AAFF5C2-2364-43F0-8731-05B05E2B4DFF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Integrar RDA5807 · mejorar alimentación · completar llamadas · instalar en el vehículo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901CA1-5356-4ADB-B101-B9235CB571DE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Preguntas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FFECFF-880F-4A9D-B29F-16203257BB82}"/>
              </a:ext>
            </a:extLst>
          </p:cNvPr>
          <p:cNvSpPr>
            <a:spLocks noGrp="1"/>
          </p:cNvSpPr>
          <p:nvPr/>
        </p:nvSpPr>
        <p:spPr>
          <a:xfrm>
            <a:off x="8620125" y="5810250"/>
            <a:ext cx="28860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AFC1C5"/>
                </a:solidFill>
              </a:defRPr>
            </a:pPr>
            <a:r>
              <a:rPr sz="1200" b="0">
                <a:solidFill>
                  <a:srgbClr val="AFC1C5"/>
                </a:solidFill>
              </a:rPr>
              <a:t>Sergio Gallego Álvarez</a:t>
            </a:r>
          </a:p>
        </p:txBody>
      </p:sp>
    </p:spTree>
    <p:extLst>
      <p:ext uri="{BB962C8B-B14F-4D97-AF65-F5344CB8AC3E}">
        <p14:creationId xmlns:p14="http://schemas.microsoft.com/office/powerpoint/2010/main" val="7595363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1003</Words>
  <Application>Microsoft Office PowerPoint</Application>
  <DocSecurity>0</DocSecurity>
  <PresentationFormat>Panorámica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Sergio Gallego Álvarez</cp:lastModifiedBy>
  <cp:revision>3</cp:revision>
  <dcterms:created xsi:type="dcterms:W3CDTF">2026-08-28T10:45:09Z</dcterms:created>
  <dcterms:modified xsi:type="dcterms:W3CDTF">2026-08-28T11:08:32Z</dcterms:modified>
</cp:coreProperties>
</file>